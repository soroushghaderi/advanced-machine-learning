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b8fdf0ffcd4911" /><Relationship Type="http://schemas.openxmlformats.org/officeDocument/2006/relationships/extended-properties" Target="/docProps/app.xml" Id="Rf489c502a28046b0" /><Relationship Type="http://schemas.openxmlformats.org/officeDocument/2006/relationships/officeDocument" Target="/ppt/presentation.xml" Id="Rc69bdbde14c142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7d0a22a9274f4e"/>
  </p:sldMasterIdLst>
  <p:notesMasterIdLst>
    <p:notesMasterId xmlns:r="http://schemas.openxmlformats.org/officeDocument/2006/relationships" r:id="R666152b950ae4e78"/>
  </p:notesMasterIdLst>
  <p:sldIdLst>
    <p:sldId xmlns:r="http://schemas.openxmlformats.org/officeDocument/2006/relationships" id="256" r:id="R7139c6c02135423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5ef1dfa5c2422d" /><Relationship Type="http://schemas.openxmlformats.org/officeDocument/2006/relationships/slideMaster" Target="/ppt/slideMasters/slideMaster1.xml" Id="R7f7d0a22a9274f4e" /><Relationship Type="http://schemas.openxmlformats.org/officeDocument/2006/relationships/notesMaster" Target="/ppt/notesMasters/notesMaster1.xml" Id="R666152b950ae4e78" /><Relationship Type="http://schemas.openxmlformats.org/officeDocument/2006/relationships/presProps" Target="/ppt/presProps.xml" Id="Re852e45a447d44a8" /><Relationship Type="http://schemas.openxmlformats.org/officeDocument/2006/relationships/tableStyles" Target="/ppt/tableStyles.xml" Id="R8623f307b955401a" /><Relationship Type="http://schemas.openxmlformats.org/officeDocument/2006/relationships/slide" Target="/ppt/slides/slide1.xml" Id="R7139c6c0213542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a1377f9f1c4e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2bc05d0c6549ae" /><Relationship Type="http://schemas.openxmlformats.org/officeDocument/2006/relationships/notesMaster" Target="/ppt/notesMasters/notesMaster1.xml" Id="R4ad5ed82cb8647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6f4a07250246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8d7dce3b324947" /><Relationship Type="http://schemas.openxmlformats.org/officeDocument/2006/relationships/slideLayout" Target="/ppt/slideLayouts/slideLayout1.xml" Id="Ra8c74f2d8d9a47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c74f2d8d9a47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260aa62104ed9" /><Relationship Type="http://schemas.openxmlformats.org/officeDocument/2006/relationships/image" Target="/ppt/media/image.png" Id="Rb2f78d7b837b4b10" /><Relationship Type="http://schemas.openxmlformats.org/officeDocument/2006/relationships/notesSlide" Target="/ppt/notesSlides/notesSlide1.xml" Id="Rf61d3f88c9bd431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f78d7b837b4b1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B37CB8-05AF-4D70-8681-F7B9EBA9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BD133-41B2-4F14-AFCB-85DE1AD4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DAFC27-5D8F-47DC-90A5-9EB65702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3350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7E5BB"/>
                </a:solidFill>
              </a:defRPr>
            </a:pPr>
            <a:r>
              <a:rPr sz="2025" b="1">
                <a:solidFill>
                  <a:srgbClr val="F7E5BB"/>
                </a:solidFill>
              </a:rPr>
              <a:t>THE JOURNEY FROM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4E7546-97D7-4012-921D-93B77A96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333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8873E"/>
                </a:solidFill>
              </a:defRPr>
            </a:pPr>
            <a:r>
              <a:rPr sz="2025" b="1">
                <a:solidFill>
                  <a:srgbClr val="E8873E"/>
                </a:solidFill>
              </a:rPr>
              <a:t>PREDICTION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756570-11EB-457B-950B-B4A18E68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333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7E5BB"/>
                </a:solidFill>
              </a:defRPr>
            </a:pPr>
            <a:r>
              <a:rPr sz="2025" b="1">
                <a:solidFill>
                  <a:srgbClr val="F7E5BB"/>
                </a:solidFill>
              </a:rPr>
              <a:t>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125D62-AA4C-444D-8064-3D224FD4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33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75C8D2"/>
                </a:solidFill>
              </a:defRPr>
            </a:pPr>
            <a:r>
              <a:rPr sz="2025" b="1">
                <a:solidFill>
                  <a:srgbClr val="75C8D2"/>
                </a:solidFill>
              </a:rPr>
              <a:t>CAUSAL 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B1E997-BC28-45CE-B3A7-13297964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953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9EACE"/>
                </a:solidFill>
              </a:defRPr>
            </a:pPr>
            <a:r>
              <a:rPr sz="1275" b="1">
                <a:solidFill>
                  <a:srgbClr val="F9EACE"/>
                </a:solidFill>
              </a:rPr>
              <a:t>From “What will happen?” to “What if we act?”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9D79C4-8173-43F0-9731-C6BDAE25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066800"/>
            <a:ext cx="3048000" cy="3619500"/>
          </a:xfrm>
          <a:prstGeom xmlns:a="http://schemas.openxmlformats.org/drawingml/2006/main" prst="roundRect">
            <a:avLst>
              <a:gd name="adj" fmla="val 3750"/>
            </a:avLst>
          </a:prstGeom>
          <a:ln xmlns:a="http://schemas.openxmlformats.org/drawingml/2006/main" w="9525">
            <a:solidFill>
              <a:srgbClr val="C998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C8F27D-70B2-4AAD-BBDF-160AE60C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477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C567"/>
                </a:solidFill>
              </a:defRPr>
            </a:pPr>
            <a:r>
              <a:rPr sz="1125" b="1">
                <a:solidFill>
                  <a:srgbClr val="FFC567"/>
                </a:solidFill>
              </a:rPr>
              <a:t>STAGE 1  •  PREDICTION MINDSET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6C6D21-CC16-4520-BC3B-0F355BAE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811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7E5BB"/>
                </a:solidFill>
              </a:defRPr>
            </a:pPr>
            <a:r>
              <a:rPr sz="1950" b="1">
                <a:solidFill>
                  <a:srgbClr val="F7E5BB"/>
                </a:solidFill>
              </a:rPr>
              <a:t>What will happen?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A208B0-4851-48CA-BC13-88C2D8A3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71675"/>
            <a:ext cx="2457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4DFC4"/>
                </a:solidFill>
              </a:defRPr>
            </a:pPr>
            <a:r>
              <a:rPr sz="1200">
                <a:solidFill>
                  <a:srgbClr val="F4DFC4"/>
                </a:solidFill>
              </a:rPr>
              <a:t>Observe the travellers already moving through the station.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ACAD3C-F271-4ABC-B229-313ED428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6700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9EACE"/>
                </a:solidFill>
              </a:defRPr>
            </a:pPr>
            <a:r>
              <a:rPr sz="1275">
                <a:solidFill>
                  <a:srgbClr val="F9EACE"/>
                </a:solidFill>
              </a:rPr>
              <a:t>• Learn patterns and correlations</a:t>
            </a:r>
          </a:p>
          <a:p xmlns:a="http://schemas.openxmlformats.org/drawingml/2006/main">
            <a:pPr>
              <a:defRPr sz="1275">
                <a:solidFill>
                  <a:srgbClr val="F9EACE"/>
                </a:solidFill>
              </a:defRPr>
            </a:pPr>
            <a:r>
              <a:rPr sz="1275">
                <a:solidFill>
                  <a:srgbClr val="F9EACE"/>
                </a:solidFill>
              </a:rPr>
              <a:t>• Estimate P(Y | X)</a:t>
            </a:r>
          </a:p>
          <a:p xmlns:a="http://schemas.openxmlformats.org/drawingml/2006/main">
            <a:pPr>
              <a:defRPr sz="1275">
                <a:solidFill>
                  <a:srgbClr val="F9EACE"/>
                </a:solidFill>
              </a:defRPr>
            </a:pPr>
            <a:r>
              <a:rPr sz="1275">
                <a:solidFill>
                  <a:srgbClr val="F9EACE"/>
                </a:solidFill>
              </a:rPr>
              <a:t>• Rank by probability</a:t>
            </a:r>
          </a:p>
          <a:p xmlns:a="http://schemas.openxmlformats.org/drawingml/2006/main">
            <a:pPr>
              <a:defRPr sz="1275">
                <a:solidFill>
                  <a:srgbClr val="F9EACE"/>
                </a:solidFill>
              </a:defRPr>
            </a:pPr>
            <a:r>
              <a:rPr sz="1275">
                <a:solidFill>
                  <a:srgbClr val="F9EACE"/>
                </a:solidFill>
              </a:rPr>
              <a:t>• Optimise predictive accuracy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3CFA40-C696-4A63-AEC4-93F80CE0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983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195DF3-AE61-4C8B-9BF4-772EA71A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338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C567"/>
                </a:solidFill>
              </a:defRPr>
            </a:pPr>
            <a:r>
              <a:rPr sz="1050" b="1">
                <a:solidFill>
                  <a:srgbClr val="FFC567"/>
                </a:solidFill>
              </a:rPr>
              <a:t>LIMITATION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770981-6998-41E4-8374-02D3D2FC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9100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4DFC4"/>
                </a:solidFill>
              </a:defRPr>
            </a:pPr>
            <a:r>
              <a:rPr sz="1125">
                <a:solidFill>
                  <a:srgbClr val="F4DFC4"/>
                </a:solidFill>
              </a:rPr>
              <a:t>A high-probability outcome may have happened anyway.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4E97F5-6AF7-44D1-B1A6-923DFD22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066800"/>
            <a:ext cx="3048000" cy="3619500"/>
          </a:xfrm>
          <a:prstGeom xmlns:a="http://schemas.openxmlformats.org/drawingml/2006/main" prst="roundRect">
            <a:avLst>
              <a:gd name="adj" fmla="val 3750"/>
            </a:avLst>
          </a:prstGeom>
          <a:ln xmlns:a="http://schemas.openxmlformats.org/drawingml/2006/main" w="9525">
            <a:solidFill>
              <a:srgbClr val="C998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9CB276-0833-4D50-A18E-90D467C8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2477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5D7E1"/>
                </a:solidFill>
              </a:defRPr>
            </a:pPr>
            <a:r>
              <a:rPr sz="1125" b="1">
                <a:solidFill>
                  <a:srgbClr val="85D7E1"/>
                </a:solidFill>
              </a:rPr>
              <a:t>STAGE 2  •  CAUSAL MINDSET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9A8DD7-2745-45E8-B1F5-D5287889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5811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7E5BB"/>
                </a:solidFill>
              </a:defRPr>
            </a:pPr>
            <a:r>
              <a:rPr sz="1950" b="1">
                <a:solidFill>
                  <a:srgbClr val="F7E5BB"/>
                </a:solidFill>
              </a:rPr>
              <a:t>What if we act?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24BA0F-1D78-4ADB-B0D9-7AA73519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971675"/>
            <a:ext cx="2457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E2F6F3"/>
                </a:solidFill>
              </a:defRPr>
            </a:pPr>
            <a:r>
              <a:rPr sz="1200">
                <a:solidFill>
                  <a:srgbClr val="E2F6F3"/>
                </a:solidFill>
              </a:rPr>
              <a:t>Move the switch - then ask what changed because of the intervention.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C96286-2F2E-4E97-B70A-E4EA0274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6700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EAF8F4"/>
                </a:solidFill>
              </a:defRPr>
            </a:pPr>
            <a:r>
              <a:rPr sz="1275">
                <a:solidFill>
                  <a:srgbClr val="EAF8F4"/>
                </a:solidFill>
              </a:rPr>
              <a:t>• Estimate treatment effect</a:t>
            </a:r>
          </a:p>
          <a:p xmlns:a="http://schemas.openxmlformats.org/drawingml/2006/main">
            <a:pPr>
              <a:defRPr sz="1275">
                <a:solidFill>
                  <a:srgbClr val="EAF8F4"/>
                </a:solidFill>
              </a:defRPr>
            </a:pPr>
            <a:r>
              <a:rPr sz="1275">
                <a:solidFill>
                  <a:srgbClr val="EAF8F4"/>
                </a:solidFill>
              </a:rPr>
              <a:t>• Compare two possible paths</a:t>
            </a:r>
          </a:p>
          <a:p xmlns:a="http://schemas.openxmlformats.org/drawingml/2006/main">
            <a:pPr>
              <a:defRPr sz="1275">
                <a:solidFill>
                  <a:srgbClr val="EAF8F4"/>
                </a:solidFill>
              </a:defRPr>
            </a:pPr>
            <a:r>
              <a:rPr sz="1275">
                <a:solidFill>
                  <a:srgbClr val="EAF8F4"/>
                </a:solidFill>
              </a:rPr>
              <a:t>• Use experiments and causal methods</a:t>
            </a:r>
          </a:p>
          <a:p xmlns:a="http://schemas.openxmlformats.org/drawingml/2006/main">
            <a:pPr>
              <a:defRPr sz="1275">
                <a:solidFill>
                  <a:srgbClr val="EAF8F4"/>
                </a:solidFill>
              </a:defRPr>
            </a:pPr>
            <a:r>
              <a:rPr sz="1275">
                <a:solidFill>
                  <a:srgbClr val="EAF8F4"/>
                </a:solidFill>
              </a:rPr>
              <a:t>• Optimise incremental value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8587F7-0F23-4723-8D0E-D3F548A4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90950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75C8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67A59B-976D-473A-90A6-96574756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9338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5D7E1"/>
                </a:solidFill>
              </a:defRPr>
            </a:pPr>
            <a:r>
              <a:rPr sz="1050" b="1">
                <a:solidFill>
                  <a:srgbClr val="85D7E1"/>
                </a:solidFill>
              </a:rPr>
              <a:t>THE QUESTION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FE8E69-F070-4085-B2AE-250368CF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19100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2F6F3"/>
                </a:solidFill>
              </a:defRPr>
            </a:pPr>
            <a:r>
              <a:rPr sz="1125">
                <a:solidFill>
                  <a:srgbClr val="E2F6F3"/>
                </a:solidFill>
              </a:rPr>
              <a:t>Which traveller boards because we moved the switch?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AB4156-A1F8-423F-8B6A-756F1C9C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190625"/>
            <a:ext cx="4000500" cy="933450"/>
          </a:xfrm>
          <a:prstGeom xmlns:a="http://schemas.openxmlformats.org/drawingml/2006/main" prst="roundRect">
            <a:avLst>
              <a:gd name="adj" fmla="val 12245"/>
            </a:avLst>
          </a:prstGeom>
          <a:ln xmlns:a="http://schemas.openxmlformats.org/drawingml/2006/main" w="9525">
            <a:solidFill>
              <a:srgbClr val="C9983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829C0A-D4C9-47AD-B6C5-5CBE7810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430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C567"/>
                </a:solidFill>
              </a:defRPr>
            </a:pPr>
            <a:r>
              <a:rPr sz="1050" b="1">
                <a:solidFill>
                  <a:srgbClr val="FFC567"/>
                </a:solidFill>
              </a:rPr>
              <a:t>THE DECISION MOMENT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C56BB1-852D-413E-BBEF-91F4C0A5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71625"/>
            <a:ext cx="3619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E5BB"/>
                </a:solidFill>
              </a:defRPr>
            </a:pPr>
            <a:r>
              <a:rPr sz="1800" b="1">
                <a:solidFill>
                  <a:srgbClr val="F7E5BB"/>
                </a:solidFill>
              </a:rPr>
              <a:t>Intervention changes the route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6B9E82-77F3-48D7-A82D-C8F820D4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9547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9BDCE2"/>
                </a:solidFill>
              </a:defRPr>
            </a:pPr>
            <a:r>
              <a:rPr sz="1200">
                <a:solidFill>
                  <a:srgbClr val="9BDCE2"/>
                </a:solidFill>
              </a:rPr>
              <a:t>P(Y | do(T=1), X) − P(Y | do(T=0), X)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50C153-FA47-40B1-B20C-1003D403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905250"/>
            <a:ext cx="4419600" cy="904875"/>
          </a:xfrm>
          <a:prstGeom xmlns:a="http://schemas.openxmlformats.org/drawingml/2006/main" prst="roundRect">
            <a:avLst>
              <a:gd name="adj" fmla="val 12632"/>
            </a:avLst>
          </a:prstGeom>
          <a:ln xmlns:a="http://schemas.openxmlformats.org/drawingml/2006/main" w="9525">
            <a:solidFill>
              <a:srgbClr val="C998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DC0B2C-BA92-4DC3-B06D-EFAA13A5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048125"/>
            <a:ext cx="403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C567"/>
                </a:solidFill>
              </a:defRPr>
            </a:pPr>
            <a:r>
              <a:rPr sz="1050" b="1">
                <a:solidFill>
                  <a:srgbClr val="FFC567"/>
                </a:solidFill>
              </a:rPr>
              <a:t>THE AHA MOMENT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E72F3A-53E5-4C94-A052-00ECB035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267200"/>
            <a:ext cx="403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E5BB"/>
                </a:solidFill>
              </a:defRPr>
            </a:pPr>
            <a:r>
              <a:rPr sz="1650" b="1">
                <a:solidFill>
                  <a:srgbClr val="F7E5BB"/>
                </a:solidFill>
              </a:rPr>
              <a:t>Do not target who will convert.</a:t>
            </a:r>
          </a:p>
          <a:p xmlns:a="http://schemas.openxmlformats.org/drawingml/2006/main">
            <a:pPr algn="ctr">
              <a:defRPr sz="1650" b="1">
                <a:solidFill>
                  <a:srgbClr val="F7E5BB"/>
                </a:solidFill>
              </a:defRPr>
            </a:pPr>
            <a:r>
              <a:rPr sz="1650" b="1">
                <a:solidFill>
                  <a:srgbClr val="F7E5BB"/>
                </a:solidFill>
              </a:rPr>
              <a:t>Target who converts because of us.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9EF7D4-2ECA-498A-8BF6-C265A94A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12192000" cy="1752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983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8DC357-25D1-45E1-9365-F666FAE6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482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C567"/>
                </a:solidFill>
              </a:defRPr>
            </a:pPr>
            <a:r>
              <a:rPr sz="1125" b="1">
                <a:solidFill>
                  <a:srgbClr val="FFC567"/>
                </a:solidFill>
              </a:rPr>
              <a:t>FOUR POSSIBLE FATES AT THE SWITCH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F37191-7AB6-4EC9-A15C-94ED3CAB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53075"/>
            <a:ext cx="2571750" cy="952500"/>
          </a:xfrm>
          <a:prstGeom xmlns:a="http://schemas.openxmlformats.org/drawingml/2006/main" prst="roundRect">
            <a:avLst>
              <a:gd name="adj" fmla="val 8000"/>
            </a:avLst>
          </a:prstGeom>
          <a:ln xmlns:a="http://schemas.openxmlformats.org/drawingml/2006/main" w="9525">
            <a:solidFill>
              <a:srgbClr val="D7B66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1AF891-1C48-4B93-B4AD-65DA3C8C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676900"/>
            <a:ext cx="2286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7B66B"/>
                </a:solidFill>
              </a:defRPr>
            </a:pPr>
            <a:r>
              <a:rPr sz="1125" b="1">
                <a:solidFill>
                  <a:srgbClr val="D7B66B"/>
                </a:solidFill>
              </a:rPr>
              <a:t>SURE THINGS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820BE2-A01C-4865-B33F-F84CC0E8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4E5CB"/>
                </a:solidFill>
              </a:defRPr>
            </a:pPr>
            <a:r>
              <a:rPr sz="1125">
                <a:solidFill>
                  <a:srgbClr val="F4E5CB"/>
                </a:solidFill>
              </a:rPr>
              <a:t>They board either way.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2C7833-3C6C-4B28-A8C3-43F3B3F0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553075"/>
            <a:ext cx="2571750" cy="952500"/>
          </a:xfrm>
          <a:prstGeom xmlns:a="http://schemas.openxmlformats.org/drawingml/2006/main" prst="roundRect">
            <a:avLst>
              <a:gd name="adj" fmla="val 8000"/>
            </a:avLst>
          </a:prstGeom>
          <a:ln xmlns:a="http://schemas.openxmlformats.org/drawingml/2006/main" w="9525">
            <a:solidFill>
              <a:srgbClr val="8FD68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0AD374-0224-4B1B-B2EF-AF29C996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676900"/>
            <a:ext cx="2286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FD681"/>
                </a:solidFill>
              </a:defRPr>
            </a:pPr>
            <a:r>
              <a:rPr sz="1125" b="1">
                <a:solidFill>
                  <a:srgbClr val="8FD681"/>
                </a:solidFill>
              </a:rPr>
              <a:t>PERSUADABLES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6FA6E2-D970-4A52-9A9C-1CE3CA65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9531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4E5CB"/>
                </a:solidFill>
              </a:defRPr>
            </a:pPr>
            <a:r>
              <a:rPr sz="1125">
                <a:solidFill>
                  <a:srgbClr val="F4E5CB"/>
                </a:solidFill>
              </a:rPr>
              <a:t>The hidden bright route.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373BFC-06A8-41E7-BAB7-ADE9EB43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553075"/>
            <a:ext cx="2571750" cy="952500"/>
          </a:xfrm>
          <a:prstGeom xmlns:a="http://schemas.openxmlformats.org/drawingml/2006/main" prst="roundRect">
            <a:avLst>
              <a:gd name="adj" fmla="val 8000"/>
            </a:avLst>
          </a:prstGeom>
          <a:ln xmlns:a="http://schemas.openxmlformats.org/drawingml/2006/main" w="9525">
            <a:solidFill>
              <a:srgbClr val="A77E6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6A3388-8008-4C7E-A4A2-CB8F753F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676900"/>
            <a:ext cx="2286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77E6E"/>
                </a:solidFill>
              </a:defRPr>
            </a:pPr>
            <a:r>
              <a:rPr sz="1125" b="1">
                <a:solidFill>
                  <a:srgbClr val="A77E6E"/>
                </a:solidFill>
              </a:rPr>
              <a:t>LOST CAUSES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C0A65B3-AC81-4392-8984-F9A09197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9531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4E5CB"/>
                </a:solidFill>
              </a:defRPr>
            </a:pPr>
            <a:r>
              <a:rPr sz="1125">
                <a:solidFill>
                  <a:srgbClr val="F4E5CB"/>
                </a:solidFill>
              </a:rPr>
              <a:t>No route reaches them.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2DFF53A-19C6-4F34-9E1D-1FF0CF9B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553075"/>
            <a:ext cx="2571750" cy="952500"/>
          </a:xfrm>
          <a:prstGeom xmlns:a="http://schemas.openxmlformats.org/drawingml/2006/main" prst="roundRect">
            <a:avLst>
              <a:gd name="adj" fmla="val 8000"/>
            </a:avLst>
          </a:prstGeom>
          <a:ln xmlns:a="http://schemas.openxmlformats.org/drawingml/2006/main" w="9525">
            <a:solidFill>
              <a:srgbClr val="CF726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CB87E68-D71F-4D6C-83F8-30131811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676900"/>
            <a:ext cx="2286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F7266"/>
                </a:solidFill>
              </a:defRPr>
            </a:pPr>
            <a:r>
              <a:rPr sz="1125" b="1">
                <a:solidFill>
                  <a:srgbClr val="CF7266"/>
                </a:solidFill>
              </a:rPr>
              <a:t>DO-NOT-DISTURBS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E23359F-26C4-42C3-913E-FFBDE708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59531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4E5CB"/>
                </a:solidFill>
              </a:defRPr>
            </a:pPr>
            <a:r>
              <a:rPr sz="1125">
                <a:solidFill>
                  <a:srgbClr val="F4E5CB"/>
                </a:solidFill>
              </a:rPr>
              <a:t>Intervention worsens the outcome.</a:t>
            </a:r>
          </a:p>
        </p:txBody>
      </p:sp>
    </p:spTree>
    <p:extLst>
      <p:ext uri="{BB962C8B-B14F-4D97-AF65-F5344CB8AC3E}">
        <p14:creationId xmlns:p14="http://schemas.microsoft.com/office/powerpoint/2010/main" val="579709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2026-07-21T08:45:56.3890000Z</dcterms:created>
  <dcterms:modified xsi:type="dcterms:W3CDTF">2026-07-21T08:45:56.3890000Z</dcterms:modified>
</coreProperties>
</file>